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62156"/>
            <a:ext cx="52292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3366"/>
                </a:solidFill>
              </a:rPr>
              <a:t>Handwritten Digit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3366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3366"/>
                </a:solidFill>
              </a:rPr>
              <a:t>Recognition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3253699"/>
            <a:ext cx="522922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A Comparative Analysis of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Classification Algorithms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4093090"/>
            <a:ext cx="52292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2" kern="0" dirty="0">
                <a:solidFill>
                  <a:srgbClr val="666666"/>
                </a:solidFill>
              </a:rPr>
              <a:t>Graduate-Level Machine Learning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57850" y="0"/>
            <a:ext cx="3486150" cy="514350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8" y="585788"/>
            <a:ext cx="3114675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Project Overview &amp; Objectives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887109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Objective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757363"/>
            <a:ext cx="4543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Implement and compare multiple machine learning approaches for recognizing handwritten digits, focusing on accuracy, efficiency, and model robustness.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57475"/>
            <a:ext cx="969569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Relevance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084314"/>
            <a:ext cx="4543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Handwritten digit recognition is a fundamental problem in computer vision with critical applications in postal automation, bank check processing, and automated data entry systems.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43550" y="1330523"/>
            <a:ext cx="2002371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Key Models Explored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5543550" y="1757363"/>
            <a:ext cx="3028950" cy="46434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7"/>
          <p:cNvSpPr/>
          <p:nvPr/>
        </p:nvSpPr>
        <p:spPr>
          <a:xfrm>
            <a:off x="5543550" y="1757363"/>
            <a:ext cx="30289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Multi-Layer Perceptron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5543550" y="2328863"/>
            <a:ext cx="3028950" cy="4643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9"/>
          <p:cNvSpPr/>
          <p:nvPr/>
        </p:nvSpPr>
        <p:spPr>
          <a:xfrm>
            <a:off x="5543550" y="2328863"/>
            <a:ext cx="30289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Logistic Regression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5543550" y="2900363"/>
            <a:ext cx="3028950" cy="46434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1"/>
          <p:cNvSpPr/>
          <p:nvPr/>
        </p:nvSpPr>
        <p:spPr>
          <a:xfrm>
            <a:off x="5543550" y="2900363"/>
            <a:ext cx="30289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Linear Regression (OvA)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543550" y="3471863"/>
            <a:ext cx="3028950" cy="4643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5543550" y="3471863"/>
            <a:ext cx="30289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Naive Bayes (GaussianNB)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</a:rPr>
              <a:t>Dataset: DIDA 10K Version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3366"/>
                </a:solidFill>
              </a:rPr>
              <a:t>Dataset Size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2041071" y="1337871"/>
            <a:ext cx="2643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10,000 samples of handwritten digits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703784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3366"/>
                </a:solidFill>
              </a:rPr>
              <a:t>Input Format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063116" y="1718480"/>
            <a:ext cx="2643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28x28 pixel grayscale images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077045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3366"/>
                </a:solidFill>
              </a:rPr>
              <a:t>Representation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033723" y="2084393"/>
            <a:ext cx="26431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Flattened 784-dimensional vectors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450306"/>
            <a:ext cx="128587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3366"/>
                </a:solidFill>
              </a:rPr>
              <a:t>Output Classes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982289" y="2465002"/>
            <a:ext cx="2643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10 classes (digits 0 through 9)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018234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Source: didadataset.github.io/DIDA/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000625" y="1330523"/>
            <a:ext cx="3571875" cy="332184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0625" y="1330523"/>
            <a:ext cx="3571875" cy="107156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473398"/>
            <a:ext cx="3286125" cy="2928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</a:rPr>
              <a:t>Methodology: Data Preprocessing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73398"/>
            <a:ext cx="2476481" cy="77152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73398"/>
            <a:ext cx="2476481" cy="5715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73398"/>
            <a:ext cx="2476481" cy="7715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Normalization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187773"/>
            <a:ext cx="2476481" cy="103718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Pixel values were scaled to 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[0, 1]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range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. This ensures numerical stability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and facilitates faster convergence during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model training phase.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333731" y="1473398"/>
            <a:ext cx="2476509" cy="77152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3333731" y="1473398"/>
            <a:ext cx="2476509" cy="5715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3333731" y="1473398"/>
            <a:ext cx="2476509" cy="7715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Data Splitting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333731" y="2187773"/>
            <a:ext cx="2476509" cy="103718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dataset was divided into an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80%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Training Set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(8,000 samples)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optimization and 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20% Testing Set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(2,000 samples) for final evaluation.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6095991" y="1473398"/>
            <a:ext cx="2476481" cy="77152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991" y="1473398"/>
            <a:ext cx="2476481" cy="5715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6095991" y="1473398"/>
            <a:ext cx="2476481" cy="7715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Validation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095991" y="2187773"/>
            <a:ext cx="2476481" cy="1242901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Implemented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5-fold Cross-Validation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to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ensure model robustness. This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technique provides a more reliable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estimate of model performance on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unseen data.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</a:rPr>
              <a:t>Methodology: Multi-Layer Perceptron (MLP)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4286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3366"/>
                </a:solidFill>
              </a:rPr>
              <a:t>Architecture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651992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feed-forward neural network consisting of an input layer (784 neurons), a minimum of two hidden layers with optimized neuron counts, and a 10-neuron output layer.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519176"/>
            <a:ext cx="4286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3366"/>
                </a:solidFill>
              </a:rPr>
              <a:t>Optimization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840645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Hyperparameters including learning rate, batch size, and number of epochs were tuned using iterative optimization to minimize classification error on the training set.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3707829"/>
            <a:ext cx="4286250" cy="7143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707829"/>
            <a:ext cx="4286250" cy="71437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Key Strength: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Capable of capturing complex non-linear relationships in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high-dimensional pixel data through hierarchical feature learning.</a:t>
            </a:r>
            <a:endParaRPr lang="en-US" sz="78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088" y="1487686"/>
            <a:ext cx="314325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Methodology: Regression Models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01961"/>
            <a:ext cx="3714750" cy="46434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01961"/>
            <a:ext cx="37147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Logistic Regression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080617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Multi-class Setup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346722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Implemented using a multinomial probabilistic approach to handle the 10-digit classification task directly.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008188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Optimization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274293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Focused on convergence criteria and L2 regularization to ensure model stability and prevent overfitting on high-dimensional pixel data.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857750" y="1401961"/>
            <a:ext cx="3714750" cy="4643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4857750" y="1401961"/>
            <a:ext cx="3714750" cy="464344"/>
          </a:xfrm>
          <a:prstGeom prst="rect">
            <a:avLst/>
          </a:prstGeom>
          <a:noFill/>
          <a:ln/>
        </p:spPr>
        <p:txBody>
          <a:bodyPr wrap="square" lIns="212598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Linear Regression (OvA)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857750" y="2080617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One-vs-All Strategy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857750" y="2346722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Adapted for classification by training 10 separate binary linear models, each identifying one specific digit against all others.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857750" y="3213906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Decision Logic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857750" y="3480011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Predictions are made by selecting the class whose corresponding model yields the highest confidence score for the input vector.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Methodology: Naive Bayes Classifier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73398"/>
            <a:ext cx="2476481" cy="36968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Probabilistic Approach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021681"/>
            <a:ext cx="2476481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Based on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Bayes' Theorem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, this model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calculates the probability of a digit class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given the observed pixel intensities. It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assumes that each pixel's value is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independent of others, simplifying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complex joint probability distribution.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333731" y="1473398"/>
            <a:ext cx="2476509" cy="36968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Implementation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333731" y="2021681"/>
            <a:ext cx="2476509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Gaussian Naive Bayes (GaussianNB)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variant was selected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this project. It assumes that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continuous pixel intensity values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each class follow a normal (Gaussian)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distribution.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333731" y="3398862"/>
            <a:ext cx="2476509" cy="121443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6"/>
          <p:cNvSpPr/>
          <p:nvPr/>
        </p:nvSpPr>
        <p:spPr>
          <a:xfrm>
            <a:off x="3476606" y="3541737"/>
            <a:ext cx="2190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Key Assumption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476606" y="3768551"/>
            <a:ext cx="20166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Feature Independence: Despite being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476606" y="3923928"/>
            <a:ext cx="20434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"naive" in image data where pixels are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476606" y="4079304"/>
            <a:ext cx="20865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highly correlated, it provides a fast and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476606" y="4234681"/>
            <a:ext cx="9413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efficient baseline.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095991" y="1473398"/>
            <a:ext cx="2476481" cy="36968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66"/>
                </a:solidFill>
              </a:rPr>
              <a:t>Role as Baseline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095991" y="2021681"/>
            <a:ext cx="2476481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Serves as 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performance baseline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to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quantify the gains achieved by more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complex discriminative models like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Logistic Regression and Multi-Layer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Perceptrons. It highlights the necessity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of capturing spatial dependencies in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digit recognition.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Results: Performance Metrics Summary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44836"/>
            <a:ext cx="8001000" cy="57864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544836"/>
            <a:ext cx="2621617" cy="578644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</a:rPr>
              <a:t>Model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193117" y="1544836"/>
            <a:ext cx="1445437" cy="578644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</a:rPr>
              <a:t>Accuracy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638554" y="1544836"/>
            <a:ext cx="1483500" cy="578644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</a:rPr>
              <a:t>Precision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122054" y="1544836"/>
            <a:ext cx="1126257" cy="578644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</a:rPr>
              <a:t>Recall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248311" y="1544836"/>
            <a:ext cx="1324189" cy="578644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</a:rPr>
              <a:t>F1-Score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571500" y="2123480"/>
            <a:ext cx="8001000" cy="58221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2123480"/>
            <a:ext cx="2621617" cy="582216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MLP Neural Network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193117" y="2123480"/>
            <a:ext cx="1445437" cy="582216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0.841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638554" y="2123480"/>
            <a:ext cx="1483500" cy="582216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0.849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122054" y="2123480"/>
            <a:ext cx="1126257" cy="582216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0.841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248311" y="2123480"/>
            <a:ext cx="1324189" cy="582216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0.841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2705695"/>
            <a:ext cx="262161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Logistic Regression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3193117" y="2705695"/>
            <a:ext cx="144543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0.747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38554" y="2705695"/>
            <a:ext cx="1483500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0.747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22054" y="2705695"/>
            <a:ext cx="112625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0.747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48311" y="2705695"/>
            <a:ext cx="1324189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0.746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" y="3291483"/>
            <a:ext cx="8001000" cy="5857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291483"/>
            <a:ext cx="262161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Linear Regression (OvA)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193117" y="3291483"/>
            <a:ext cx="144543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0.689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38554" y="3291483"/>
            <a:ext cx="1483500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0.689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22054" y="3291483"/>
            <a:ext cx="112625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0.689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48311" y="3291483"/>
            <a:ext cx="1324189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0.687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71500" y="3877270"/>
            <a:ext cx="262161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Naive Bayes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3193117" y="3877270"/>
            <a:ext cx="144543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0.514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38554" y="3877270"/>
            <a:ext cx="1483500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0.543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122054" y="3877270"/>
            <a:ext cx="1126257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0.514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248311" y="3877270"/>
            <a:ext cx="1324189" cy="585788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0.516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0" y="4466630"/>
            <a:ext cx="9144000" cy="441127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* Metrics evaluated on the 20% test set (2,000 samples). Highlighting indicates the top-performing model.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890" y="54190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Results: Accuracy Comparison Visualized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30523"/>
            <a:ext cx="5072063" cy="32146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30523"/>
            <a:ext cx="71438" cy="321468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73398"/>
            <a:ext cx="4714875" cy="2928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7875" y="1330523"/>
            <a:ext cx="2714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MLP Superiority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857875" y="1596628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Multi-Layer Perceptron significantly outperforms all other models, achieving ~84% accuracy.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857875" y="2389584"/>
            <a:ext cx="2714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Linear Baselines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857875" y="2655689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Logistic and Linear Regression show moderate performance, capturing basic linear patterns.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857875" y="3448645"/>
            <a:ext cx="2714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NB Limitations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857875" y="3714750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Naive Bayes shows the lowest accuracy, highlighting the impact of the pixel independence assumption.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Results: Training Time vs. Accuracy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30523"/>
            <a:ext cx="4357688" cy="32146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30523"/>
            <a:ext cx="71438" cy="321468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73398"/>
            <a:ext cx="4000500" cy="2928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3500" y="1330523"/>
            <a:ext cx="2476733" cy="26431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3366"/>
                </a:solidFill>
              </a:rPr>
              <a:t>Computational Efficiency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5143500" y="1701998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Models like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Naive Bayes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and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Linear Regression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offer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near-instant training (&lt;1s) but suffer from lower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predictive power.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143500" y="2533464"/>
            <a:ext cx="1693878" cy="26431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3366"/>
                </a:solidFill>
              </a:rPr>
              <a:t>The MLP Trade-off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5143500" y="2904939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MLP Neural Network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requires significantly more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time (~107s) due to its iterative backpropagation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process.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5143500" y="3736404"/>
            <a:ext cx="3429000" cy="8572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8"/>
          <p:cNvSpPr/>
          <p:nvPr/>
        </p:nvSpPr>
        <p:spPr>
          <a:xfrm>
            <a:off x="5143500" y="3736404"/>
            <a:ext cx="3429000" cy="857250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Conclusion: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 For this dataset, the 10% accuracy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gain of MLP over Logistic Regression justifies the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increased computational cost.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28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003366"/>
                </a:solidFill>
              </a:rPr>
              <a:t>Results: Error Analysis via Confusion Matrix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96653"/>
            <a:ext cx="4750594" cy="34861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6653"/>
            <a:ext cx="107156" cy="348615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896666"/>
            <a:ext cx="4286250" cy="3286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2125" y="1796653"/>
            <a:ext cx="1890359" cy="27146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</a:rPr>
              <a:t>Diagonal Dominance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5572125" y="2175272"/>
            <a:ext cx="3000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 values along the main diagonal confirm 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6B"/>
                </a:solidFill>
              </a:rPr>
              <a:t>MLP's high accuracy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across all 10 digit classes.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572125" y="2801020"/>
            <a:ext cx="1423113" cy="27146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</a:rPr>
              <a:t>Common Errors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5572125" y="3179638"/>
            <a:ext cx="3000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Minor misclassifications occur between visually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similar digits, such as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6B"/>
                </a:solidFill>
              </a:rPr>
              <a:t>4 and 9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or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6B"/>
                </a:solidFill>
              </a:rPr>
              <a:t>3 and 8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, where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structural features overlap.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572125" y="4011104"/>
            <a:ext cx="1627129" cy="27146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</a:rPr>
              <a:t>Model Robustness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5572125" y="4389723"/>
            <a:ext cx="3000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model maintains consistent performance without significant bias toward any specific digit, demonstrating effective feature extraction.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28688"/>
            <a:ext cx="2271713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2" kern="0" dirty="0">
                <a:solidFill>
                  <a:srgbClr val="003366"/>
                </a:solidFill>
              </a:rPr>
              <a:t>Key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2" kern="0" dirty="0">
                <a:solidFill>
                  <a:srgbClr val="003366"/>
                </a:solidFill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2" kern="0" dirty="0">
                <a:solidFill>
                  <a:srgbClr val="003366"/>
                </a:solidFill>
              </a:rPr>
              <a:t>Takeaways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700338" y="0"/>
            <a:ext cx="6443663" cy="51435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2"/>
          <p:cNvSpPr/>
          <p:nvPr/>
        </p:nvSpPr>
        <p:spPr>
          <a:xfrm>
            <a:off x="3271838" y="302716"/>
            <a:ext cx="53006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6B6B"/>
                </a:solidFill>
              </a:rPr>
              <a:t>Model Superiority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271838" y="608112"/>
            <a:ext cx="53006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Multi-Layer Perceptrons (MLP) are significantly better suited for image-based recognition tasks, achieving 84.1% accuracy compared to traditional linear baselines.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71838" y="1572518"/>
            <a:ext cx="53006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6B6B"/>
                </a:solidFill>
              </a:rPr>
              <a:t>Methodology Impact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271838" y="1877913"/>
            <a:ext cx="53006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Rigorous data normalization and 5-fold cross-validation were critical in ensuring model stability and providing a reliable estimate of real-world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1838" y="2842320"/>
            <a:ext cx="53006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6B6B"/>
                </a:solidFill>
              </a:rPr>
              <a:t>Performance vs. Speed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271838" y="3147715"/>
            <a:ext cx="53006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While MLP requires higher computational resources, the substantial gain in predictive power justifies the increased training time for precision-critical applications.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71838" y="4254996"/>
            <a:ext cx="5300663" cy="871538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i="1" dirty="0">
                <a:solidFill>
                  <a:srgbClr val="FFFFFF"/>
                </a:solidFill>
              </a:rPr>
              <a:t>The project successfully validated the efficacy of neural networks on the DIDA dataset, establishing a robust framework for handwritten digit classification.</a:t>
            </a:r>
            <a:endParaRPr lang="en-US" sz="10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2026-01-06T11:07:15Z</dcterms:created>
  <dcterms:modified xsi:type="dcterms:W3CDTF">2026-01-06T11:07:15Z</dcterms:modified>
</cp:coreProperties>
</file>